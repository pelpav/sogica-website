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
  </p:notesMasterIdLst>
  <p:sldIdLst>
    <p:sldId id="256" r:id="rId2"/>
    <p:sldId id="257" r:id="rId3"/>
    <p:sldId id="259" r:id="rId4"/>
  </p:sldIdLst>
  <p:sldSz cx="6858000" cy="9144000" type="screen4x3"/>
  <p:notesSz cx="6889750"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10" d="100"/>
          <a:sy n="110" d="100"/>
        </p:scale>
        <p:origin x="2466"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985558" cy="502676"/>
          </a:xfrm>
          <a:prstGeom prst="rect">
            <a:avLst/>
          </a:prstGeom>
        </p:spPr>
        <p:txBody>
          <a:bodyPr vert="horz" lIns="96604" tIns="48302" rIns="96604" bIns="48302" rtlCol="0"/>
          <a:lstStyle>
            <a:lvl1pPr algn="l">
              <a:defRPr sz="1300"/>
            </a:lvl1pPr>
          </a:lstStyle>
          <a:p>
            <a:endParaRPr lang="fr-FR"/>
          </a:p>
        </p:txBody>
      </p:sp>
      <p:sp>
        <p:nvSpPr>
          <p:cNvPr id="3" name="Espace réservé de la date 2"/>
          <p:cNvSpPr>
            <a:spLocks noGrp="1"/>
          </p:cNvSpPr>
          <p:nvPr>
            <p:ph type="dt" idx="1"/>
          </p:nvPr>
        </p:nvSpPr>
        <p:spPr>
          <a:xfrm>
            <a:off x="3902597" y="1"/>
            <a:ext cx="2985558" cy="502676"/>
          </a:xfrm>
          <a:prstGeom prst="rect">
            <a:avLst/>
          </a:prstGeom>
        </p:spPr>
        <p:txBody>
          <a:bodyPr vert="horz" lIns="96604" tIns="48302" rIns="96604" bIns="48302" rtlCol="0"/>
          <a:lstStyle>
            <a:lvl1pPr algn="r">
              <a:defRPr sz="1300"/>
            </a:lvl1pPr>
          </a:lstStyle>
          <a:p>
            <a:fld id="{BC420937-4F9E-4DB7-BFC8-9949404BC1BB}" type="datetimeFigureOut">
              <a:rPr lang="fr-FR" smtClean="0"/>
              <a:t>23/12/2025</a:t>
            </a:fld>
            <a:endParaRPr lang="fr-FR"/>
          </a:p>
        </p:txBody>
      </p:sp>
      <p:sp>
        <p:nvSpPr>
          <p:cNvPr id="4" name="Espace réservé de l'image des diapositives 3"/>
          <p:cNvSpPr>
            <a:spLocks noGrp="1" noRot="1" noChangeAspect="1"/>
          </p:cNvSpPr>
          <p:nvPr>
            <p:ph type="sldImg" idx="2"/>
          </p:nvPr>
        </p:nvSpPr>
        <p:spPr>
          <a:xfrm>
            <a:off x="2176463" y="1252538"/>
            <a:ext cx="2536825" cy="3381375"/>
          </a:xfrm>
          <a:prstGeom prst="rect">
            <a:avLst/>
          </a:prstGeom>
          <a:noFill/>
          <a:ln w="12700">
            <a:solidFill>
              <a:prstClr val="black"/>
            </a:solidFill>
          </a:ln>
        </p:spPr>
        <p:txBody>
          <a:bodyPr vert="horz" lIns="96604" tIns="48302" rIns="96604" bIns="48302" rtlCol="0" anchor="ctr"/>
          <a:lstStyle/>
          <a:p>
            <a:endParaRPr lang="fr-FR"/>
          </a:p>
        </p:txBody>
      </p:sp>
      <p:sp>
        <p:nvSpPr>
          <p:cNvPr id="5" name="Espace réservé des notes 4"/>
          <p:cNvSpPr>
            <a:spLocks noGrp="1"/>
          </p:cNvSpPr>
          <p:nvPr>
            <p:ph type="body" sz="quarter" idx="3"/>
          </p:nvPr>
        </p:nvSpPr>
        <p:spPr>
          <a:xfrm>
            <a:off x="688975" y="4821506"/>
            <a:ext cx="5511800" cy="3944868"/>
          </a:xfrm>
          <a:prstGeom prst="rect">
            <a:avLst/>
          </a:prstGeom>
        </p:spPr>
        <p:txBody>
          <a:bodyPr vert="horz" lIns="96604" tIns="48302" rIns="96604" bIns="48302"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516039"/>
            <a:ext cx="2985558" cy="502674"/>
          </a:xfrm>
          <a:prstGeom prst="rect">
            <a:avLst/>
          </a:prstGeom>
        </p:spPr>
        <p:txBody>
          <a:bodyPr vert="horz" lIns="96604" tIns="48302" rIns="96604" bIns="48302"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3902597" y="9516039"/>
            <a:ext cx="2985558" cy="502674"/>
          </a:xfrm>
          <a:prstGeom prst="rect">
            <a:avLst/>
          </a:prstGeom>
        </p:spPr>
        <p:txBody>
          <a:bodyPr vert="horz" lIns="96604" tIns="48302" rIns="96604" bIns="48302" rtlCol="0" anchor="b"/>
          <a:lstStyle>
            <a:lvl1pPr algn="r">
              <a:defRPr sz="1300"/>
            </a:lvl1pPr>
          </a:lstStyle>
          <a:p>
            <a:fld id="{5EEAE802-5CA8-4D34-B999-EA351B6BF5D6}" type="slidenum">
              <a:rPr lang="fr-FR" smtClean="0"/>
              <a:t>‹N°›</a:t>
            </a:fld>
            <a:endParaRPr lang="fr-FR"/>
          </a:p>
        </p:txBody>
      </p:sp>
    </p:spTree>
    <p:extLst>
      <p:ext uri="{BB962C8B-B14F-4D97-AF65-F5344CB8AC3E}">
        <p14:creationId xmlns:p14="http://schemas.microsoft.com/office/powerpoint/2010/main" val="428691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40EE3491-0355-4F75-A9A0-9689A88D2F55}" type="datetime1">
              <a:rPr lang="fr-FR" smtClean="0"/>
              <a:t>23/12/2025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3444652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09D704-0DC4-4908-A178-E6D30AE80B1D}" type="datetime1">
              <a:rPr lang="fr-FR" smtClean="0"/>
              <a:t>23/12/2025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279256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D03FE8D7-23DF-4742-A169-E75651981D37}" type="datetime1">
              <a:rPr lang="fr-FR" smtClean="0"/>
              <a:t>23/12/2025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1283047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D71D43-9B15-4766-8ED8-E7234A320EB1}" type="datetime1">
              <a:rPr lang="fr-FR" smtClean="0"/>
              <a:t>23/12/2025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2396420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fr-FR"/>
              <a:t>Modifiez le style du titre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472381" y="3340100"/>
            <a:ext cx="2901255" cy="491278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3471863" y="3340100"/>
            <a:ext cx="2915543" cy="491278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47EB891-945B-4DC1-B158-E667CDB360F7}" type="datetime1">
              <a:rPr lang="fr-FR" smtClean="0"/>
              <a:t>23/12/2025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2661827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2CB9AC8-EFEC-4425-9DAE-9C9BC70A49A9}" type="datetime1">
              <a:rPr lang="fr-FR" smtClean="0"/>
              <a:t>23/12/2025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1087087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45C37-967A-4DBF-A879-639501A3D4CB}" type="datetime1">
              <a:rPr lang="fr-FR" smtClean="0"/>
              <a:t>23/12/2025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46723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174D8806-24DF-4F82-A372-26B140FDEFE8}" type="datetime1">
              <a:rPr lang="fr-FR" smtClean="0"/>
              <a:t>23/12/2025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92508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A0478DF6-DF9F-4642-BD69-2C1305E6FD59}" type="datetime1">
              <a:rPr lang="fr-FR" smtClean="0"/>
              <a:t>23/12/2025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3848608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414FB7F-E230-49B7-A015-921326A7F294}" type="datetime1">
              <a:rPr lang="fr-FR" smtClean="0"/>
              <a:t>23/12/2025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4137271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EAC2B68-59EC-487C-BC89-06BDEAC9DC68}" type="datetime1">
              <a:rPr lang="fr-FR" smtClean="0"/>
              <a:t>23/12/2025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FBEF47F-2426-4406-9648-8F61061D6084}" type="slidenum">
              <a:rPr lang="fr-FR" smtClean="0"/>
              <a:t>‹N°›</a:t>
            </a:fld>
            <a:endParaRPr lang="fr-FR"/>
          </a:p>
        </p:txBody>
      </p:sp>
    </p:spTree>
    <p:extLst>
      <p:ext uri="{BB962C8B-B14F-4D97-AF65-F5344CB8AC3E}">
        <p14:creationId xmlns:p14="http://schemas.microsoft.com/office/powerpoint/2010/main" val="2603513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892271AD-02A7-48EE-BE0E-942AB0FEDF80}" type="datetime1">
              <a:rPr lang="fr-FR" smtClean="0"/>
              <a:t>23/12/2025</a:t>
            </a:fld>
            <a:endParaRPr lang="fr-F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DFBEF47F-2426-4406-9648-8F61061D6084}" type="slidenum">
              <a:rPr lang="fr-FR" smtClean="0"/>
              <a:t>‹N°›</a:t>
            </a:fld>
            <a:endParaRPr lang="fr-FR"/>
          </a:p>
        </p:txBody>
      </p:sp>
    </p:spTree>
    <p:extLst>
      <p:ext uri="{BB962C8B-B14F-4D97-AF65-F5344CB8AC3E}">
        <p14:creationId xmlns:p14="http://schemas.microsoft.com/office/powerpoint/2010/main" val="13223837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mailto:sogicbtp@gmail.com"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541654" y="21153"/>
            <a:ext cx="4067033"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SOGICA </a:t>
            </a:r>
            <a:r>
              <a:rPr lang="fr-FR" sz="2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SA</a:t>
            </a:r>
            <a:endParaRPr lang="fr-FR"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5" name="ZoneTexte 4"/>
          <p:cNvSpPr txBox="1"/>
          <p:nvPr/>
        </p:nvSpPr>
        <p:spPr>
          <a:xfrm>
            <a:off x="405321" y="940311"/>
            <a:ext cx="6414448" cy="736163"/>
          </a:xfrm>
          <a:prstGeom prst="horizontalScroll">
            <a:avLst/>
          </a:prstGeom>
          <a:ln>
            <a:solidFill>
              <a:srgbClr val="7030A0"/>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fr-FR" sz="3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Lucida Fax" panose="02060602050505020204" pitchFamily="18" charset="0"/>
              </a:rPr>
              <a:t>PRESENTATION</a:t>
            </a:r>
            <a:endParaRPr lang="fr-FR" sz="3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Lucida Fax" panose="02060602050505020204" pitchFamily="18" charset="0"/>
            </a:endParaRPr>
          </a:p>
        </p:txBody>
      </p:sp>
      <p:sp>
        <p:nvSpPr>
          <p:cNvPr id="6" name="ZoneTexte 5"/>
          <p:cNvSpPr txBox="1"/>
          <p:nvPr/>
        </p:nvSpPr>
        <p:spPr>
          <a:xfrm>
            <a:off x="405321" y="629910"/>
            <a:ext cx="6414448" cy="28744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fr-FR" sz="1200" b="1" dirty="0">
                <a:latin typeface="Lucida Fax" panose="02060602050505020204" pitchFamily="18" charset="0"/>
              </a:rPr>
              <a:t>SOCIETE GENERALE D’INGENIEURS DE CONSTRUCTION ET D’AMENAGEMENT</a:t>
            </a:r>
          </a:p>
        </p:txBody>
      </p:sp>
      <p:sp>
        <p:nvSpPr>
          <p:cNvPr id="2" name="ZoneTexte 1"/>
          <p:cNvSpPr txBox="1"/>
          <p:nvPr/>
        </p:nvSpPr>
        <p:spPr>
          <a:xfrm>
            <a:off x="399919" y="1676474"/>
            <a:ext cx="6414448" cy="1754326"/>
          </a:xfrm>
          <a:prstGeom prst="rect">
            <a:avLst/>
          </a:prstGeom>
          <a:noFill/>
        </p:spPr>
        <p:txBody>
          <a:bodyPr wrap="square" rtlCol="0">
            <a:spAutoFit/>
          </a:bodyPr>
          <a:lstStyle/>
          <a:p>
            <a:pPr algn="just"/>
            <a:r>
              <a:rPr lang="fr-FR" sz="1200" dirty="0">
                <a:latin typeface="Century" panose="02040604050505020304" pitchFamily="18" charset="0"/>
              </a:rPr>
              <a:t>La société SOGICA </a:t>
            </a:r>
            <a:r>
              <a:rPr lang="fr-FR" sz="1200" dirty="0" smtClean="0">
                <a:latin typeface="Century" panose="02040604050505020304" pitchFamily="18" charset="0"/>
              </a:rPr>
              <a:t>SA </a:t>
            </a:r>
            <a:r>
              <a:rPr lang="fr-FR" sz="1200" dirty="0">
                <a:latin typeface="Century" panose="02040604050505020304" pitchFamily="18" charset="0"/>
              </a:rPr>
              <a:t>incarne une entreprise de premier plan dans le secteur du BTP, établie en 2016. Notre fondation repose sur une passion ardente pour la réalisation et la rénovation d'infrastructures génie civil ainsi que l'aménagement de voies de circulation.</a:t>
            </a:r>
          </a:p>
          <a:p>
            <a:pPr algn="just"/>
            <a:r>
              <a:rPr lang="fr-FR" sz="1200" dirty="0">
                <a:latin typeface="Century" panose="02040604050505020304" pitchFamily="18" charset="0"/>
              </a:rPr>
              <a:t>Notre expertise est solidement ancrée dans le savoir-faire d'une équipe d'ingénieurs et de techniciens expérimentés, fortement motivés par l'objectif de répondre aux besoins les plus exigeants de notre clientèle.</a:t>
            </a:r>
          </a:p>
          <a:p>
            <a:pPr algn="just"/>
            <a:r>
              <a:rPr lang="fr-FR" sz="1200" dirty="0">
                <a:latin typeface="Century" panose="02040604050505020304" pitchFamily="18" charset="0"/>
              </a:rPr>
              <a:t>Quel que soit l'envergure de votre projet de construction et de réaménagement, SOGICA </a:t>
            </a:r>
            <a:r>
              <a:rPr lang="fr-FR" sz="1200" dirty="0" smtClean="0">
                <a:latin typeface="Century" panose="02040604050505020304" pitchFamily="18" charset="0"/>
              </a:rPr>
              <a:t>SA </a:t>
            </a:r>
            <a:r>
              <a:rPr lang="fr-FR" sz="1200" dirty="0">
                <a:latin typeface="Century" panose="02040604050505020304" pitchFamily="18" charset="0"/>
              </a:rPr>
              <a:t>se fait un devoir de vous accompagner dans la réalisation exhaustive de vos exigences, avec pour engagement ultime de surpasser vos attentes.</a:t>
            </a:r>
          </a:p>
        </p:txBody>
      </p:sp>
      <p:pic>
        <p:nvPicPr>
          <p:cNvPr id="3" name="Image 2"/>
          <p:cNvPicPr>
            <a:picLocks noChangeAspect="1"/>
          </p:cNvPicPr>
          <p:nvPr/>
        </p:nvPicPr>
        <p:blipFill>
          <a:blip r:embed="rId2"/>
          <a:stretch>
            <a:fillRect/>
          </a:stretch>
        </p:blipFill>
        <p:spPr>
          <a:xfrm>
            <a:off x="367947" y="3688261"/>
            <a:ext cx="3542316" cy="2508002"/>
          </a:xfrm>
          <a:prstGeom prst="rect">
            <a:avLst/>
          </a:prstGeom>
        </p:spPr>
      </p:pic>
      <p:pic>
        <p:nvPicPr>
          <p:cNvPr id="7" name="Image 6"/>
          <p:cNvPicPr>
            <a:picLocks noChangeAspect="1"/>
          </p:cNvPicPr>
          <p:nvPr/>
        </p:nvPicPr>
        <p:blipFill>
          <a:blip r:embed="rId3"/>
          <a:stretch>
            <a:fillRect/>
          </a:stretch>
        </p:blipFill>
        <p:spPr>
          <a:xfrm>
            <a:off x="423797" y="7119795"/>
            <a:ext cx="3207224" cy="2024205"/>
          </a:xfrm>
          <a:prstGeom prst="rect">
            <a:avLst/>
          </a:prstGeom>
        </p:spPr>
      </p:pic>
      <p:pic>
        <p:nvPicPr>
          <p:cNvPr id="9" name="Image 8" descr="C:\Users\SOGIC\AppData\Local\Microsoft\Windows\INetCache\Content.Word\A.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77611" y="6196262"/>
            <a:ext cx="1612265" cy="938463"/>
          </a:xfrm>
          <a:prstGeom prst="rect">
            <a:avLst/>
          </a:prstGeom>
          <a:noFill/>
          <a:ln>
            <a:noFill/>
          </a:ln>
        </p:spPr>
      </p:pic>
      <p:pic>
        <p:nvPicPr>
          <p:cNvPr id="8" name="Image 7"/>
          <p:cNvPicPr>
            <a:picLocks noChangeAspect="1"/>
          </p:cNvPicPr>
          <p:nvPr/>
        </p:nvPicPr>
        <p:blipFill>
          <a:blip r:embed="rId5"/>
          <a:stretch>
            <a:fillRect/>
          </a:stretch>
        </p:blipFill>
        <p:spPr>
          <a:xfrm>
            <a:off x="0" y="5303913"/>
            <a:ext cx="3177611" cy="2432392"/>
          </a:xfrm>
          <a:prstGeom prst="rect">
            <a:avLst/>
          </a:prstGeom>
        </p:spPr>
      </p:pic>
      <p:sp>
        <p:nvSpPr>
          <p:cNvPr id="11" name="ZoneTexte 10"/>
          <p:cNvSpPr txBox="1"/>
          <p:nvPr/>
        </p:nvSpPr>
        <p:spPr>
          <a:xfrm>
            <a:off x="3983743" y="4089458"/>
            <a:ext cx="2273968" cy="654368"/>
          </a:xfrm>
          <a:prstGeom prst="horizontalScroll">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rPr>
              <a:t>Réhabilitation Bâtiment &amp; Ouvrage</a:t>
            </a:r>
          </a:p>
        </p:txBody>
      </p:sp>
      <p:sp>
        <p:nvSpPr>
          <p:cNvPr id="12" name="ZoneTexte 11"/>
          <p:cNvSpPr txBox="1"/>
          <p:nvPr/>
        </p:nvSpPr>
        <p:spPr>
          <a:xfrm>
            <a:off x="4235116" y="4893240"/>
            <a:ext cx="2464874" cy="388531"/>
          </a:xfrm>
          <a:prstGeom prst="horizontalScroll">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rPr>
              <a:t>Construction Métallique</a:t>
            </a:r>
          </a:p>
        </p:txBody>
      </p:sp>
      <p:sp>
        <p:nvSpPr>
          <p:cNvPr id="13" name="ZoneTexte 12"/>
          <p:cNvSpPr txBox="1"/>
          <p:nvPr/>
        </p:nvSpPr>
        <p:spPr>
          <a:xfrm>
            <a:off x="4588341" y="5594682"/>
            <a:ext cx="2273968" cy="388531"/>
          </a:xfrm>
          <a:prstGeom prst="horizontalScroll">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rPr>
              <a:t>Construction Bâtiment</a:t>
            </a:r>
          </a:p>
        </p:txBody>
      </p:sp>
      <p:sp>
        <p:nvSpPr>
          <p:cNvPr id="14" name="ZoneTexte 13"/>
          <p:cNvSpPr txBox="1"/>
          <p:nvPr/>
        </p:nvSpPr>
        <p:spPr>
          <a:xfrm>
            <a:off x="5029200" y="6338309"/>
            <a:ext cx="1670790" cy="654368"/>
          </a:xfrm>
          <a:prstGeom prst="horizontalScroll">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rPr>
              <a:t>Aménagement de Voirie</a:t>
            </a:r>
          </a:p>
        </p:txBody>
      </p:sp>
      <p:sp>
        <p:nvSpPr>
          <p:cNvPr id="15" name="ZoneTexte 14"/>
          <p:cNvSpPr txBox="1"/>
          <p:nvPr/>
        </p:nvSpPr>
        <p:spPr>
          <a:xfrm>
            <a:off x="4206704" y="7905889"/>
            <a:ext cx="2464874" cy="388531"/>
          </a:xfrm>
          <a:prstGeom prst="horizontalScroll">
            <a:avLst/>
          </a:prstGeom>
          <a:ln/>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r-FR" sz="1300" b="1" dirty="0" smtClean="0">
                <a:ln w="0"/>
                <a:solidFill>
                  <a:schemeClr val="bg1"/>
                </a:solidFill>
                <a:effectLst>
                  <a:outerShdw blurRad="38100" dist="19050" dir="2700000" algn="tl" rotWithShape="0">
                    <a:schemeClr val="dk1">
                      <a:alpha val="40000"/>
                    </a:schemeClr>
                  </a:outerShdw>
                </a:effectLst>
                <a:latin typeface="Lucida Fax" panose="02060602050505020204" pitchFamily="18" charset="0"/>
              </a:rPr>
              <a:t>OUVRAGE HYDRAULIQUE</a:t>
            </a:r>
            <a:endPar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endParaRPr>
          </a:p>
        </p:txBody>
      </p:sp>
      <p:sp>
        <p:nvSpPr>
          <p:cNvPr id="17" name="ZoneTexte 16"/>
          <p:cNvSpPr txBox="1"/>
          <p:nvPr/>
        </p:nvSpPr>
        <p:spPr>
          <a:xfrm>
            <a:off x="3941702" y="8587161"/>
            <a:ext cx="2316009" cy="388531"/>
          </a:xfrm>
          <a:prstGeom prst="horizontalScroll">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fr-FR" sz="1300" b="1" dirty="0" smtClean="0">
                <a:ln w="0"/>
                <a:solidFill>
                  <a:schemeClr val="bg1"/>
                </a:solidFill>
                <a:effectLst>
                  <a:outerShdw blurRad="38100" dist="19050" dir="2700000" algn="tl" rotWithShape="0">
                    <a:schemeClr val="dk1">
                      <a:alpha val="40000"/>
                    </a:schemeClr>
                  </a:outerShdw>
                </a:effectLst>
                <a:latin typeface="Lucida Fax" panose="02060602050505020204" pitchFamily="18" charset="0"/>
              </a:rPr>
              <a:t>IMPORT/EXPORTS</a:t>
            </a:r>
            <a:endPar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endParaRPr>
          </a:p>
        </p:txBody>
      </p:sp>
      <p:sp>
        <p:nvSpPr>
          <p:cNvPr id="18" name="ZoneTexte 17"/>
          <p:cNvSpPr txBox="1"/>
          <p:nvPr/>
        </p:nvSpPr>
        <p:spPr>
          <a:xfrm>
            <a:off x="4588341" y="7332348"/>
            <a:ext cx="2249904" cy="388531"/>
          </a:xfrm>
          <a:prstGeom prst="horizontalScroll">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fr-FR" sz="1300" b="1" dirty="0">
                <a:ln w="0"/>
                <a:solidFill>
                  <a:schemeClr val="bg1"/>
                </a:solidFill>
                <a:effectLst>
                  <a:outerShdw blurRad="38100" dist="19050" dir="2700000" algn="tl" rotWithShape="0">
                    <a:schemeClr val="dk1">
                      <a:alpha val="40000"/>
                    </a:schemeClr>
                  </a:outerShdw>
                </a:effectLst>
                <a:latin typeface="Lucida Fax" panose="02060602050505020204" pitchFamily="18" charset="0"/>
              </a:rPr>
              <a:t>Travaux Spéciaux</a:t>
            </a:r>
          </a:p>
        </p:txBody>
      </p:sp>
      <p:sp>
        <p:nvSpPr>
          <p:cNvPr id="19" name="Espace réservé du numéro de diapositive 18"/>
          <p:cNvSpPr>
            <a:spLocks noGrp="1"/>
          </p:cNvSpPr>
          <p:nvPr>
            <p:ph type="sldNum" sz="quarter" idx="12"/>
          </p:nvPr>
        </p:nvSpPr>
        <p:spPr/>
        <p:txBody>
          <a:bodyPr/>
          <a:lstStyle/>
          <a:p>
            <a:fld id="{DFBEF47F-2426-4406-9648-8F61061D6084}" type="slidenum">
              <a:rPr lang="fr-FR" smtClean="0"/>
              <a:t>1</a:t>
            </a:fld>
            <a:endParaRPr lang="fr-FR" dirty="0"/>
          </a:p>
        </p:txBody>
      </p:sp>
      <p:sp>
        <p:nvSpPr>
          <p:cNvPr id="10" name="ZoneTexte 9"/>
          <p:cNvSpPr txBox="1"/>
          <p:nvPr/>
        </p:nvSpPr>
        <p:spPr>
          <a:xfrm>
            <a:off x="0" y="5207568"/>
            <a:ext cx="1557051"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fr-FR" sz="1200" b="1" dirty="0">
                <a:solidFill>
                  <a:schemeClr val="bg1"/>
                </a:solidFill>
              </a:rPr>
              <a:t>Quelques images de nos réalisations</a:t>
            </a:r>
          </a:p>
        </p:txBody>
      </p:sp>
    </p:spTree>
    <p:extLst>
      <p:ext uri="{BB962C8B-B14F-4D97-AF65-F5344CB8AC3E}">
        <p14:creationId xmlns:p14="http://schemas.microsoft.com/office/powerpoint/2010/main" val="724186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2091" y="644931"/>
            <a:ext cx="6330227" cy="828000"/>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Adresse</a:t>
            </a:r>
            <a:r>
              <a:rPr lang="fr-FR" sz="1200" dirty="0">
                <a:latin typeface="Lucida Fax" panose="02060602050505020204" pitchFamily="18" charset="0"/>
                <a:cs typeface="Times New Roman" panose="02020603050405020304" pitchFamily="18" charset="0"/>
              </a:rPr>
              <a:t> : Faladiè SEMA, Près de Mali Univers</a:t>
            </a: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E-mail </a:t>
            </a:r>
            <a:r>
              <a:rPr lang="fr-FR" sz="1200" dirty="0">
                <a:latin typeface="Lucida Fax" panose="02060602050505020204" pitchFamily="18" charset="0"/>
                <a:cs typeface="Times New Roman" panose="02020603050405020304" pitchFamily="18" charset="0"/>
              </a:rPr>
              <a:t>: </a:t>
            </a:r>
            <a:r>
              <a:rPr lang="fr-FR" sz="1200" dirty="0">
                <a:latin typeface="Lucida Fax" panose="02060602050505020204" pitchFamily="18" charset="0"/>
                <a:cs typeface="Times New Roman" panose="02020603050405020304" pitchFamily="18" charset="0"/>
                <a:hlinkClick r:id="rId2"/>
              </a:rPr>
              <a:t>sogicbtp@gmail.com</a:t>
            </a:r>
            <a:endParaRPr lang="fr-FR" sz="1200" dirty="0">
              <a:latin typeface="Lucida Fax" panose="02060602050505020204" pitchFamily="18" charset="0"/>
              <a:cs typeface="Times New Roman" panose="02020603050405020304" pitchFamily="18" charset="0"/>
            </a:endParaRP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Tél </a:t>
            </a:r>
            <a:r>
              <a:rPr lang="fr-FR" sz="1200" dirty="0">
                <a:latin typeface="Lucida Fax" panose="02060602050505020204" pitchFamily="18" charset="0"/>
                <a:cs typeface="Times New Roman" panose="02020603050405020304" pitchFamily="18" charset="0"/>
              </a:rPr>
              <a:t>: (+223) 63631053/ 66 71 91 59</a:t>
            </a: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Contact du Gérant </a:t>
            </a:r>
            <a:r>
              <a:rPr lang="fr-FR" sz="1200" dirty="0">
                <a:latin typeface="Lucida Fax" panose="02060602050505020204" pitchFamily="18" charset="0"/>
                <a:cs typeface="Times New Roman" panose="02020603050405020304" pitchFamily="18" charset="0"/>
              </a:rPr>
              <a:t>: (+223) 62568512</a:t>
            </a:r>
          </a:p>
        </p:txBody>
      </p:sp>
      <p:sp>
        <p:nvSpPr>
          <p:cNvPr id="19" name="ZoneTexte 18"/>
          <p:cNvSpPr txBox="1"/>
          <p:nvPr/>
        </p:nvSpPr>
        <p:spPr>
          <a:xfrm>
            <a:off x="2322095" y="113642"/>
            <a:ext cx="29718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fr-FR" sz="2000" b="1" dirty="0">
                <a:latin typeface="Lucida Fax" panose="02060602050505020204" pitchFamily="18" charset="0"/>
              </a:rPr>
              <a:t>NOS COORDONNEES</a:t>
            </a:r>
          </a:p>
        </p:txBody>
      </p:sp>
      <p:sp>
        <p:nvSpPr>
          <p:cNvPr id="24" name="ZoneTexte 23"/>
          <p:cNvSpPr txBox="1"/>
          <p:nvPr/>
        </p:nvSpPr>
        <p:spPr>
          <a:xfrm>
            <a:off x="1088859" y="1611984"/>
            <a:ext cx="5101388" cy="40011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fr-FR" sz="2000" b="1" dirty="0">
                <a:latin typeface="Lucida Fax" panose="02060602050505020204" pitchFamily="18" charset="0"/>
              </a:rPr>
              <a:t>MOYENS MATERIELS</a:t>
            </a:r>
          </a:p>
        </p:txBody>
      </p:sp>
      <p:sp>
        <p:nvSpPr>
          <p:cNvPr id="25" name="ZoneTexte 24"/>
          <p:cNvSpPr txBox="1"/>
          <p:nvPr/>
        </p:nvSpPr>
        <p:spPr>
          <a:xfrm>
            <a:off x="685799" y="2069432"/>
            <a:ext cx="5669879" cy="1938992"/>
          </a:xfrm>
          <a:prstGeom prst="rect">
            <a:avLst/>
          </a:prstGeom>
          <a:noFill/>
        </p:spPr>
        <p:txBody>
          <a:bodyPr wrap="square" rtlCol="0">
            <a:spAutoFit/>
          </a:bodyPr>
          <a:lstStyle/>
          <a:p>
            <a:pPr algn="ctr"/>
            <a:r>
              <a:rPr lang="fr-FR" sz="1200" b="1" dirty="0">
                <a:latin typeface="Lucida Fax" panose="02060602050505020204" pitchFamily="18" charset="0"/>
                <a:cs typeface="Times New Roman" panose="02020603050405020304" pitchFamily="18" charset="0"/>
              </a:rPr>
              <a:t>SOGICA dispose d’un lot de matériels dont:</a:t>
            </a:r>
          </a:p>
          <a:p>
            <a:pPr marL="171450" indent="-171450">
              <a:buFont typeface="Wingdings" panose="05000000000000000000" pitchFamily="2" charset="2"/>
              <a:buChar char="§"/>
            </a:pPr>
            <a:r>
              <a:rPr lang="fr-FR" sz="1200" dirty="0" smtClean="0">
                <a:latin typeface="Lucida Fax" panose="02060602050505020204" pitchFamily="18" charset="0"/>
                <a:cs typeface="Times New Roman" panose="02020603050405020304" pitchFamily="18" charset="0"/>
              </a:rPr>
              <a:t>Deux </a:t>
            </a:r>
            <a:r>
              <a:rPr lang="fr-FR" sz="1200" dirty="0">
                <a:latin typeface="Lucida Fax" panose="02060602050505020204" pitchFamily="18" charset="0"/>
                <a:cs typeface="Times New Roman" panose="02020603050405020304" pitchFamily="18" charset="0"/>
              </a:rPr>
              <a:t>(</a:t>
            </a:r>
            <a:r>
              <a:rPr lang="fr-FR" sz="1200" dirty="0" smtClean="0">
                <a:latin typeface="Lucida Fax" panose="02060602050505020204" pitchFamily="18" charset="0"/>
                <a:cs typeface="Times New Roman" panose="02020603050405020304" pitchFamily="18" charset="0"/>
              </a:rPr>
              <a:t>02) Camions </a:t>
            </a:r>
            <a:r>
              <a:rPr lang="fr-FR" sz="1200" dirty="0">
                <a:latin typeface="Lucida Fax" panose="02060602050505020204" pitchFamily="18" charset="0"/>
                <a:cs typeface="Times New Roman" panose="02020603050405020304" pitchFamily="18" charset="0"/>
              </a:rPr>
              <a:t>benne avec Grue,</a:t>
            </a:r>
          </a:p>
          <a:p>
            <a:pPr marL="171450" indent="-171450">
              <a:buFont typeface="Wingdings" panose="05000000000000000000" pitchFamily="2" charset="2"/>
              <a:buChar char="§"/>
            </a:pPr>
            <a:r>
              <a:rPr lang="fr-FR" sz="1200" dirty="0" smtClean="0">
                <a:latin typeface="Lucida Fax" panose="02060602050505020204" pitchFamily="18" charset="0"/>
                <a:cs typeface="Times New Roman" panose="02020603050405020304" pitchFamily="18" charset="0"/>
              </a:rPr>
              <a:t>Cinq </a:t>
            </a:r>
            <a:r>
              <a:rPr lang="fr-FR" sz="1200" dirty="0">
                <a:latin typeface="Lucida Fax" panose="02060602050505020204" pitchFamily="18" charset="0"/>
                <a:cs typeface="Times New Roman" panose="02020603050405020304" pitchFamily="18" charset="0"/>
              </a:rPr>
              <a:t>(</a:t>
            </a:r>
            <a:r>
              <a:rPr lang="fr-FR" sz="1200" dirty="0" smtClean="0">
                <a:latin typeface="Lucida Fax" panose="02060602050505020204" pitchFamily="18" charset="0"/>
                <a:cs typeface="Times New Roman" panose="02020603050405020304" pitchFamily="18" charset="0"/>
              </a:rPr>
              <a:t>05) </a:t>
            </a:r>
            <a:r>
              <a:rPr lang="fr-FR" sz="1200" dirty="0">
                <a:latin typeface="Lucida Fax" panose="02060602050505020204" pitchFamily="18" charset="0"/>
                <a:cs typeface="Times New Roman" panose="02020603050405020304" pitchFamily="18" charset="0"/>
              </a:rPr>
              <a:t>Camions bennes Simple,</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Trois (03) Véhicules de liaison,</a:t>
            </a:r>
          </a:p>
          <a:p>
            <a:pPr marL="171450" indent="-171450">
              <a:buFont typeface="Wingdings" panose="05000000000000000000" pitchFamily="2" charset="2"/>
              <a:buChar char="§"/>
            </a:pPr>
            <a:r>
              <a:rPr lang="fr-FR" sz="1200" dirty="0" smtClean="0">
                <a:latin typeface="Lucida Fax" panose="02060602050505020204" pitchFamily="18" charset="0"/>
                <a:cs typeface="Times New Roman" panose="02020603050405020304" pitchFamily="18" charset="0"/>
              </a:rPr>
              <a:t>Quatre </a:t>
            </a:r>
            <a:r>
              <a:rPr lang="fr-FR" sz="1200" dirty="0">
                <a:latin typeface="Lucida Fax" panose="02060602050505020204" pitchFamily="18" charset="0"/>
                <a:cs typeface="Times New Roman" panose="02020603050405020304" pitchFamily="18" charset="0"/>
              </a:rPr>
              <a:t>(</a:t>
            </a:r>
            <a:r>
              <a:rPr lang="fr-FR" sz="1200" dirty="0" smtClean="0">
                <a:latin typeface="Lucida Fax" panose="02060602050505020204" pitchFamily="18" charset="0"/>
                <a:cs typeface="Times New Roman" panose="02020603050405020304" pitchFamily="18" charset="0"/>
              </a:rPr>
              <a:t>04) </a:t>
            </a:r>
            <a:r>
              <a:rPr lang="fr-FR" sz="1200" dirty="0">
                <a:latin typeface="Lucida Fax" panose="02060602050505020204" pitchFamily="18" charset="0"/>
                <a:cs typeface="Times New Roman" panose="02020603050405020304" pitchFamily="18" charset="0"/>
              </a:rPr>
              <a:t>Bétonnières,</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Trois (03) Postes à soudure,</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Deux (02) Groupe électrogènes,</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Un (01) lot d’échafaudage,</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Un (01) lot d’Equipement de sécurité,</a:t>
            </a:r>
          </a:p>
          <a:p>
            <a:pPr marL="171450" indent="-171450">
              <a:buFont typeface="Wingdings" panose="05000000000000000000" pitchFamily="2" charset="2"/>
              <a:buChar char="§"/>
            </a:pPr>
            <a:r>
              <a:rPr lang="fr-FR" sz="1200" dirty="0">
                <a:latin typeface="Lucida Fax" panose="02060602050505020204" pitchFamily="18" charset="0"/>
                <a:cs typeface="Times New Roman" panose="02020603050405020304" pitchFamily="18" charset="0"/>
              </a:rPr>
              <a:t>Un (01) lot de petits matériels.</a:t>
            </a:r>
          </a:p>
        </p:txBody>
      </p:sp>
      <p:sp>
        <p:nvSpPr>
          <p:cNvPr id="27" name="Espace réservé du numéro de diapositive 26"/>
          <p:cNvSpPr>
            <a:spLocks noGrp="1"/>
          </p:cNvSpPr>
          <p:nvPr>
            <p:ph type="sldNum" sz="quarter" idx="12"/>
          </p:nvPr>
        </p:nvSpPr>
        <p:spPr/>
        <p:txBody>
          <a:bodyPr/>
          <a:lstStyle/>
          <a:p>
            <a:fld id="{DFBEF47F-2426-4406-9648-8F61061D6084}" type="slidenum">
              <a:rPr lang="fr-FR" smtClean="0"/>
              <a:t>2</a:t>
            </a:fld>
            <a:endParaRPr lang="fr-FR"/>
          </a:p>
        </p:txBody>
      </p:sp>
      <p:sp>
        <p:nvSpPr>
          <p:cNvPr id="29" name="ZoneTexte 28"/>
          <p:cNvSpPr txBox="1"/>
          <p:nvPr/>
        </p:nvSpPr>
        <p:spPr>
          <a:xfrm>
            <a:off x="310223" y="8130972"/>
            <a:ext cx="6362095" cy="830997"/>
          </a:xfrm>
          <a:prstGeom prst="rect">
            <a:avLst/>
          </a:prstGeom>
          <a:ln w="38100">
            <a:solidFill>
              <a:srgbClr val="00206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Inscrit au Registre du Commerce sous le n°</a:t>
            </a:r>
            <a:r>
              <a:rPr lang="fr-FR" sz="1200" dirty="0">
                <a:latin typeface="Lucida Fax" panose="02060602050505020204" pitchFamily="18" charset="0"/>
                <a:cs typeface="Times New Roman" panose="02020603050405020304" pitchFamily="18" charset="0"/>
              </a:rPr>
              <a:t> : MA BKO 2016.B.3180</a:t>
            </a: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Numéro d’Indentification fiscal (NIF) </a:t>
            </a:r>
            <a:r>
              <a:rPr lang="fr-FR" sz="1200" dirty="0">
                <a:latin typeface="Lucida Fax" panose="02060602050505020204" pitchFamily="18" charset="0"/>
                <a:cs typeface="Times New Roman" panose="02020603050405020304" pitchFamily="18" charset="0"/>
              </a:rPr>
              <a:t>: 086147272W</a:t>
            </a: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Forme juridique</a:t>
            </a:r>
            <a:r>
              <a:rPr lang="fr-FR" sz="1200" dirty="0">
                <a:latin typeface="Lucida Fax" panose="02060602050505020204" pitchFamily="18" charset="0"/>
                <a:cs typeface="Times New Roman" panose="02020603050405020304" pitchFamily="18" charset="0"/>
              </a:rPr>
              <a:t>: </a:t>
            </a:r>
            <a:r>
              <a:rPr lang="fr-FR" sz="1200" dirty="0" smtClean="0">
                <a:latin typeface="Lucida Fax" panose="02060602050505020204" pitchFamily="18" charset="0"/>
                <a:cs typeface="Times New Roman" panose="02020603050405020304" pitchFamily="18" charset="0"/>
              </a:rPr>
              <a:t>SA </a:t>
            </a:r>
            <a:r>
              <a:rPr lang="fr-FR" sz="1200" dirty="0">
                <a:latin typeface="Lucida Fax" panose="02060602050505020204" pitchFamily="18" charset="0"/>
                <a:cs typeface="Times New Roman" panose="02020603050405020304" pitchFamily="18" charset="0"/>
              </a:rPr>
              <a:t>au capital de </a:t>
            </a:r>
            <a:r>
              <a:rPr lang="fr-FR" sz="1200" dirty="0" smtClean="0">
                <a:latin typeface="Lucida Fax" panose="02060602050505020204" pitchFamily="18" charset="0"/>
                <a:cs typeface="Times New Roman" panose="02020603050405020304" pitchFamily="18" charset="0"/>
              </a:rPr>
              <a:t>100.000.000 </a:t>
            </a:r>
            <a:r>
              <a:rPr lang="fr-FR" sz="1200" dirty="0">
                <a:latin typeface="Lucida Fax" panose="02060602050505020204" pitchFamily="18" charset="0"/>
                <a:cs typeface="Times New Roman" panose="02020603050405020304" pitchFamily="18" charset="0"/>
              </a:rPr>
              <a:t>francs CFA</a:t>
            </a:r>
          </a:p>
          <a:p>
            <a:pPr marL="171450" indent="-171450">
              <a:buFont typeface="Wingdings" panose="05000000000000000000" pitchFamily="2" charset="2"/>
              <a:buChar char="q"/>
            </a:pPr>
            <a:r>
              <a:rPr lang="fr-FR" sz="1200" b="1" u="sng" dirty="0">
                <a:latin typeface="Lucida Fax" panose="02060602050505020204" pitchFamily="18" charset="0"/>
                <a:cs typeface="Times New Roman" panose="02020603050405020304" pitchFamily="18" charset="0"/>
              </a:rPr>
              <a:t>Agrément </a:t>
            </a:r>
            <a:r>
              <a:rPr lang="fr-FR" sz="1200" dirty="0">
                <a:latin typeface="Lucida Fax" panose="02060602050505020204" pitchFamily="18" charset="0"/>
                <a:cs typeface="Times New Roman" panose="02020603050405020304" pitchFamily="18" charset="0"/>
              </a:rPr>
              <a:t>: </a:t>
            </a:r>
            <a:r>
              <a:rPr lang="fr-FR" sz="1100" dirty="0" smtClean="0">
                <a:latin typeface="Lucida Fax" panose="02060602050505020204" pitchFamily="18" charset="0"/>
                <a:cs typeface="Times New Roman" panose="02020603050405020304" pitchFamily="18" charset="0"/>
              </a:rPr>
              <a:t>N°2019-714/BTP/API-MALI-GU MODIFIE N°2024-276/BTP/API-MALI-GU</a:t>
            </a:r>
            <a:endParaRPr lang="fr-FR" sz="1100" dirty="0">
              <a:latin typeface="Lucida Fax" panose="02060602050505020204" pitchFamily="18" charset="0"/>
              <a:cs typeface="Times New Roman" panose="02020603050405020304" pitchFamily="18" charset="0"/>
            </a:endParaRPr>
          </a:p>
        </p:txBody>
      </p:sp>
      <p:sp>
        <p:nvSpPr>
          <p:cNvPr id="30" name="ZoneTexte 29"/>
          <p:cNvSpPr txBox="1"/>
          <p:nvPr/>
        </p:nvSpPr>
        <p:spPr>
          <a:xfrm>
            <a:off x="987343" y="7640009"/>
            <a:ext cx="5101388"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fr-FR" sz="2000" b="1" dirty="0">
                <a:latin typeface="Lucida Fax" panose="02060602050505020204" pitchFamily="18" charset="0"/>
              </a:rPr>
              <a:t>INFORMATIONS COMPLEMENTAIRES</a:t>
            </a:r>
          </a:p>
        </p:txBody>
      </p:sp>
      <p:pic>
        <p:nvPicPr>
          <p:cNvPr id="31" name="Image 30" descr="C:\Users\SOGIC\AppData\Local\Microsoft\Windows\INetCache\Content.Word\A.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0837"/>
            <a:ext cx="987343" cy="492915"/>
          </a:xfrm>
          <a:prstGeom prst="rect">
            <a:avLst/>
          </a:prstGeom>
          <a:noFill/>
          <a:ln>
            <a:noFill/>
          </a:ln>
        </p:spPr>
      </p:pic>
      <p:pic>
        <p:nvPicPr>
          <p:cNvPr id="3" name="Image 2"/>
          <p:cNvPicPr>
            <a:picLocks noChangeAspect="1"/>
          </p:cNvPicPr>
          <p:nvPr/>
        </p:nvPicPr>
        <p:blipFill>
          <a:blip r:embed="rId4"/>
          <a:stretch>
            <a:fillRect/>
          </a:stretch>
        </p:blipFill>
        <p:spPr>
          <a:xfrm>
            <a:off x="789616" y="4008424"/>
            <a:ext cx="5566061" cy="3540731"/>
          </a:xfrm>
          <a:prstGeom prst="rect">
            <a:avLst/>
          </a:prstGeom>
        </p:spPr>
      </p:pic>
    </p:spTree>
    <p:extLst>
      <p:ext uri="{BB962C8B-B14F-4D97-AF65-F5344CB8AC3E}">
        <p14:creationId xmlns:p14="http://schemas.microsoft.com/office/powerpoint/2010/main" val="3625156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ZoneTexte 18"/>
          <p:cNvSpPr txBox="1"/>
          <p:nvPr/>
        </p:nvSpPr>
        <p:spPr>
          <a:xfrm>
            <a:off x="1538747" y="1130321"/>
            <a:ext cx="3933022"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fr-FR" sz="2000" b="1" dirty="0" smtClean="0">
                <a:latin typeface="Lucida Fax" panose="02060602050505020204" pitchFamily="18" charset="0"/>
              </a:rPr>
              <a:t>ILS NOUS FONT CONFIANCE</a:t>
            </a:r>
            <a:endParaRPr lang="fr-FR" sz="2000" b="1" dirty="0">
              <a:latin typeface="Lucida Fax" panose="02060602050505020204" pitchFamily="18" charset="0"/>
            </a:endParaRPr>
          </a:p>
        </p:txBody>
      </p:sp>
      <p:sp>
        <p:nvSpPr>
          <p:cNvPr id="27" name="Espace réservé du numéro de diapositive 26"/>
          <p:cNvSpPr>
            <a:spLocks noGrp="1"/>
          </p:cNvSpPr>
          <p:nvPr>
            <p:ph type="sldNum" sz="quarter" idx="12"/>
          </p:nvPr>
        </p:nvSpPr>
        <p:spPr/>
        <p:txBody>
          <a:bodyPr/>
          <a:lstStyle/>
          <a:p>
            <a:fld id="{DFBEF47F-2426-4406-9648-8F61061D6084}" type="slidenum">
              <a:rPr lang="fr-FR" smtClean="0"/>
              <a:t>3</a:t>
            </a:fld>
            <a:endParaRPr lang="fr-FR"/>
          </a:p>
        </p:txBody>
      </p:sp>
      <p:pic>
        <p:nvPicPr>
          <p:cNvPr id="31" name="Image 30" descr="C:\Users\SOGIC\AppData\Local\Microsoft\Windows\INetCache\Content.Word\A.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203" y="165254"/>
            <a:ext cx="987343" cy="548554"/>
          </a:xfrm>
          <a:prstGeom prst="rect">
            <a:avLst/>
          </a:prstGeom>
          <a:noFill/>
          <a:ln>
            <a:noFill/>
          </a:ln>
        </p:spPr>
      </p:pic>
      <p:sp>
        <p:nvSpPr>
          <p:cNvPr id="10" name="ZoneTexte 9">
            <a:extLst>
              <a:ext uri="{FF2B5EF4-FFF2-40B4-BE49-F238E27FC236}">
                <a16:creationId xmlns:a16="http://schemas.microsoft.com/office/drawing/2014/main" id="{04D94C7A-5F51-466E-9D13-677F4124EF38}"/>
              </a:ext>
            </a:extLst>
          </p:cNvPr>
          <p:cNvSpPr txBox="1"/>
          <p:nvPr/>
        </p:nvSpPr>
        <p:spPr>
          <a:xfrm>
            <a:off x="738129" y="1946944"/>
            <a:ext cx="5783857" cy="3046988"/>
          </a:xfrm>
          <a:prstGeom prst="rect">
            <a:avLst/>
          </a:prstGeom>
          <a:ln w="38100">
            <a:solidFill>
              <a:srgbClr val="00206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a:lnSpc>
                <a:spcPct val="200000"/>
              </a:lnSpc>
              <a:buFont typeface="Wingdings" panose="05000000000000000000" pitchFamily="2" charset="2"/>
              <a:buChar char="q"/>
            </a:pPr>
            <a:r>
              <a:rPr lang="fr-FR" sz="1600" dirty="0" smtClean="0">
                <a:solidFill>
                  <a:schemeClr val="tx1"/>
                </a:solidFill>
                <a:latin typeface="Lucida Fax" panose="02060602050505020204" pitchFamily="18" charset="0"/>
                <a:cs typeface="Times New Roman" panose="02020603050405020304" pitchFamily="18" charset="0"/>
              </a:rPr>
              <a:t>PNUD-MLI</a:t>
            </a:r>
            <a:endParaRPr lang="fr-FR" sz="1600" dirty="0">
              <a:solidFill>
                <a:schemeClr val="tx1"/>
              </a:solidFill>
              <a:latin typeface="Lucida Fax" panose="02060602050505020204" pitchFamily="18" charset="0"/>
              <a:cs typeface="Times New Roman" panose="02020603050405020304" pitchFamily="18" charset="0"/>
            </a:endParaRPr>
          </a:p>
          <a:p>
            <a:pPr marL="171450" indent="-171450">
              <a:lnSpc>
                <a:spcPct val="200000"/>
              </a:lnSpc>
              <a:buFont typeface="Wingdings" panose="05000000000000000000" pitchFamily="2" charset="2"/>
              <a:buChar char="q"/>
            </a:pPr>
            <a:r>
              <a:rPr lang="fr-FR" sz="1600" dirty="0">
                <a:solidFill>
                  <a:schemeClr val="tx1"/>
                </a:solidFill>
                <a:latin typeface="Lucida Fax" panose="02060602050505020204" pitchFamily="18" charset="0"/>
                <a:cs typeface="Times New Roman" panose="02020603050405020304" pitchFamily="18" charset="0"/>
              </a:rPr>
              <a:t>Fond d’Entretien </a:t>
            </a:r>
            <a:r>
              <a:rPr lang="fr-FR" sz="1600" dirty="0" smtClean="0">
                <a:solidFill>
                  <a:schemeClr val="tx1"/>
                </a:solidFill>
                <a:latin typeface="Lucida Fax" panose="02060602050505020204" pitchFamily="18" charset="0"/>
                <a:cs typeface="Times New Roman" panose="02020603050405020304" pitchFamily="18" charset="0"/>
              </a:rPr>
              <a:t>Routier (FER MALI)</a:t>
            </a:r>
            <a:endParaRPr lang="fr-FR" sz="1600" dirty="0">
              <a:solidFill>
                <a:schemeClr val="tx1"/>
              </a:solidFill>
              <a:latin typeface="Lucida Fax" panose="02060602050505020204" pitchFamily="18" charset="0"/>
              <a:cs typeface="Times New Roman" panose="02020603050405020304" pitchFamily="18" charset="0"/>
            </a:endParaRPr>
          </a:p>
          <a:p>
            <a:pPr marL="171450" indent="-171450">
              <a:lnSpc>
                <a:spcPct val="200000"/>
              </a:lnSpc>
              <a:buFont typeface="Wingdings" panose="05000000000000000000" pitchFamily="2" charset="2"/>
              <a:buChar char="q"/>
            </a:pPr>
            <a:r>
              <a:rPr lang="fr-FR" sz="1600" dirty="0" smtClean="0">
                <a:solidFill>
                  <a:schemeClr val="tx1"/>
                </a:solidFill>
                <a:latin typeface="Lucida Fax" panose="02060602050505020204" pitchFamily="18" charset="0"/>
                <a:cs typeface="Times New Roman" panose="02020603050405020304" pitchFamily="18" charset="0"/>
              </a:rPr>
              <a:t>Expertise France- GROUPE AFD</a:t>
            </a:r>
          </a:p>
          <a:p>
            <a:pPr marL="171450" indent="-171450">
              <a:lnSpc>
                <a:spcPct val="200000"/>
              </a:lnSpc>
              <a:buFont typeface="Wingdings" panose="05000000000000000000" pitchFamily="2" charset="2"/>
              <a:buChar char="q"/>
            </a:pPr>
            <a:r>
              <a:rPr lang="fr-FR" sz="1600" dirty="0" smtClean="0">
                <a:solidFill>
                  <a:schemeClr val="tx1"/>
                </a:solidFill>
                <a:latin typeface="Lucida Fax" panose="02060602050505020204" pitchFamily="18" charset="0"/>
                <a:cs typeface="Times New Roman" panose="02020603050405020304" pitchFamily="18" charset="0"/>
              </a:rPr>
              <a:t>SONATER-PUDTR_BURKINA FASO</a:t>
            </a:r>
          </a:p>
          <a:p>
            <a:pPr marL="171450" indent="-171450">
              <a:lnSpc>
                <a:spcPct val="200000"/>
              </a:lnSpc>
              <a:buFont typeface="Wingdings" panose="05000000000000000000" pitchFamily="2" charset="2"/>
              <a:buChar char="q"/>
            </a:pPr>
            <a:r>
              <a:rPr lang="fr-ML" sz="1600" dirty="0" smtClean="0">
                <a:solidFill>
                  <a:schemeClr val="tx1"/>
                </a:solidFill>
                <a:latin typeface="Lucida Fax" panose="02060602050505020204" pitchFamily="18" charset="0"/>
                <a:cs typeface="Times New Roman" panose="02020603050405020304" pitchFamily="18" charset="0"/>
              </a:rPr>
              <a:t>UNION EUROPEENNE – MALI</a:t>
            </a:r>
          </a:p>
          <a:p>
            <a:pPr marL="171450" indent="-171450">
              <a:lnSpc>
                <a:spcPct val="200000"/>
              </a:lnSpc>
              <a:buFont typeface="Wingdings" panose="05000000000000000000" pitchFamily="2" charset="2"/>
              <a:buChar char="q"/>
            </a:pPr>
            <a:r>
              <a:rPr lang="fr-ML" sz="1600" dirty="0" smtClean="0">
                <a:solidFill>
                  <a:schemeClr val="tx1"/>
                </a:solidFill>
                <a:latin typeface="Lucida Fax" panose="02060602050505020204" pitchFamily="18" charset="0"/>
                <a:cs typeface="Times New Roman" panose="02020603050405020304" pitchFamily="18" charset="0"/>
              </a:rPr>
              <a:t>Etc…</a:t>
            </a:r>
            <a:endParaRPr lang="fr-ML" sz="1600" dirty="0">
              <a:solidFill>
                <a:schemeClr val="tx1"/>
              </a:solidFill>
              <a:latin typeface="Lucida Fax" panose="02060602050505020204" pitchFamily="18" charset="0"/>
              <a:cs typeface="Times New Roman" panose="02020603050405020304" pitchFamily="18" charset="0"/>
            </a:endParaRPr>
          </a:p>
        </p:txBody>
      </p:sp>
    </p:spTree>
    <p:extLst>
      <p:ext uri="{BB962C8B-B14F-4D97-AF65-F5344CB8AC3E}">
        <p14:creationId xmlns:p14="http://schemas.microsoft.com/office/powerpoint/2010/main" val="1242893082"/>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342</TotalTime>
  <Words>324</Words>
  <Application>Microsoft Office PowerPoint</Application>
  <PresentationFormat>Affichage à l'écran (4:3)</PresentationFormat>
  <Paragraphs>45</Paragraphs>
  <Slides>3</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vt:i4>
      </vt:variant>
    </vt:vector>
  </HeadingPairs>
  <TitlesOfParts>
    <vt:vector size="12" baseType="lpstr">
      <vt:lpstr>Arial</vt:lpstr>
      <vt:lpstr>Arial Black</vt:lpstr>
      <vt:lpstr>Calibri</vt:lpstr>
      <vt:lpstr>Calibri Light</vt:lpstr>
      <vt:lpstr>Century</vt:lpstr>
      <vt:lpstr>Lucida Fax</vt:lpstr>
      <vt:lpstr>Times New Roman</vt:lpstr>
      <vt:lpstr>Wingdings</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MAIGA</dc:creator>
  <cp:lastModifiedBy>Jepsen</cp:lastModifiedBy>
  <cp:revision>52</cp:revision>
  <cp:lastPrinted>2025-07-09T22:43:32Z</cp:lastPrinted>
  <dcterms:created xsi:type="dcterms:W3CDTF">2023-04-17T14:53:27Z</dcterms:created>
  <dcterms:modified xsi:type="dcterms:W3CDTF">2025-12-23T08:11:30Z</dcterms:modified>
</cp:coreProperties>
</file>